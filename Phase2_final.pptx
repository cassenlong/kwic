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</p:sldMasterIdLst>
  <p:notesMasterIdLst>
    <p:notesMasterId r:id="rId6"/>
  </p:notesMasterIdLst>
  <p:sldIdLst>
    <p:sldId id="257" r:id="rId5"/>
    <p:sldId id="263" r:id="rId7"/>
    <p:sldId id="264" r:id="rId8"/>
    <p:sldId id="269" r:id="rId9"/>
    <p:sldId id="268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FAFA"/>
    <a:srgbClr val="DCDCDC"/>
    <a:srgbClr val="F0F0F0"/>
    <a:srgbClr val="E6E6E6"/>
    <a:srgbClr val="C8C8C8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08" y="72"/>
      </p:cViewPr>
      <p:guideLst>
        <p:guide orient="horz" pos="2167"/>
        <p:guide pos="37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BEIJING INSTITUTE OF TECHNOLOGY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87" name="组合 86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84933"/>
              <a:chOff x="1752714" y="2031919"/>
              <a:chExt cx="568653" cy="3084931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49" y="4681015"/>
                <a:ext cx="437372" cy="435835"/>
                <a:chOff x="11893465" y="1994536"/>
                <a:chExt cx="274986" cy="27401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7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87430" y="1483539"/>
            <a:ext cx="7373912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BEIJING INSTITUTE OF TECHNOLOGY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 userDrawn="1"/>
        </p:nvGrpSpPr>
        <p:grpSpPr>
          <a:xfrm>
            <a:off x="9834169" y="2044937"/>
            <a:ext cx="1778296" cy="3243220"/>
            <a:chOff x="611819" y="2031917"/>
            <a:chExt cx="1709546" cy="3117835"/>
          </a:xfrm>
        </p:grpSpPr>
        <p:grpSp>
          <p:nvGrpSpPr>
            <p:cNvPr id="46" name="组合 45"/>
            <p:cNvGrpSpPr/>
            <p:nvPr/>
          </p:nvGrpSpPr>
          <p:grpSpPr>
            <a:xfrm>
              <a:off x="611819" y="2051403"/>
              <a:ext cx="567014" cy="3098349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61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63" name="组合 62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6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65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6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7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 userDrawn="1"/>
          </p:nvGrpSpPr>
          <p:grpSpPr>
            <a:xfrm>
              <a:off x="1752713" y="2031917"/>
              <a:ext cx="568652" cy="3084933"/>
              <a:chOff x="1752713" y="2031917"/>
              <a:chExt cx="568652" cy="3084933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1769224" y="3776575"/>
                <a:ext cx="501269" cy="527571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1752713" y="2031917"/>
                <a:ext cx="568652" cy="718219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855431" y="3075552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804149" y="4681015"/>
                <a:ext cx="437372" cy="435835"/>
                <a:chOff x="11893465" y="1994536"/>
                <a:chExt cx="274986" cy="27401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2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3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70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87429" y="4461296"/>
            <a:ext cx="7373913" cy="119983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答辩人：北小理</a:t>
            </a:r>
            <a:endParaRPr lang="en-US" altLang="zh-CN" dirty="0"/>
          </a:p>
          <a:p>
            <a:pPr lvl="0"/>
            <a:r>
              <a:rPr lang="zh-CN" altLang="en-US" dirty="0"/>
              <a:t>导　师：京小工</a:t>
            </a:r>
            <a:endParaRPr lang="en-US" altLang="zh-CN" dirty="0"/>
          </a:p>
          <a:p>
            <a:pPr lvl="0"/>
            <a:r>
              <a:rPr lang="zh-CN" altLang="en-US" dirty="0"/>
              <a:t>时　间：</a:t>
            </a:r>
            <a:fld id="{F6F1CC6F-731D-497C-9A0B-70CB610DC019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3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27"/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i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Phase 2</a:t>
            </a:r>
            <a:endParaRPr lang="en-US" altLang="zh-CN" sz="6000" b="1" i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03871" y="2793683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537883" y="3006097"/>
          <a:ext cx="547288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705"/>
                <a:gridCol w="2626181"/>
              </a:tblGrid>
              <a:tr h="36576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成员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分工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陈保真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代码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测试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陈俊颖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代码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+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测试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  <a:sym typeface="+mn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张凯宁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框架设计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+ppt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制作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张志豪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展示演讲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反馈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49208" y="5147282"/>
            <a:ext cx="546156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导师：彭图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时间：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2025.5.21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软件过程选择和合理性分析</a:t>
            </a:r>
            <a:endParaRPr lang="zh-CN" altLang="en-US" dirty="0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1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11" name="内容占位符 1"/>
          <p:cNvSpPr txBox="1"/>
          <p:nvPr/>
        </p:nvSpPr>
        <p:spPr>
          <a:xfrm>
            <a:off x="255270" y="1054100"/>
            <a:ext cx="11532870" cy="5059680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zh-CN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软件过程：</a:t>
            </a:r>
            <a:endParaRPr lang="zh-CN" altLang="zh-CN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螺旋模型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Spiral)</a:t>
            </a:r>
            <a:endParaRPr lang="en-US" altLang="zh-CN" sz="2400" i="1" kern="100" dirty="0">
              <a:effectLst/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敏捷开发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Agile development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)  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短的周期：冲刺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Sprint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)</a:t>
            </a:r>
            <a:endParaRPr lang="en-US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合理性分析：</a:t>
            </a:r>
            <a:endParaRPr lang="en-US" altLang="zh-CN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螺旋模型的合理性体现在项目的迭代和风险管理方面。首先，我们对项目架构进行逻辑抽象，设计项目涉及的多个模块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InputModule</a:t>
            </a:r>
            <a:r>
              <a:rPr lang="zh-CN" altLang="en-US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LineModule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</a:t>
            </a:r>
            <a:r>
              <a:rPr lang="zh-CN" altLang="en-US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ShiftModule</a:t>
            </a:r>
            <a:r>
              <a:rPr lang="zh-CN" altLang="en-US" sz="240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 err="1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SortModule</a:t>
            </a:r>
            <a:r>
              <a:rPr lang="zh-CN" altLang="en-US" sz="240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OutputModule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)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，每个模块都有相对独立但又相互关联的功能。接着对每个模块进行冲刺开发。通过多轮</a:t>
            </a:r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修改评估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，可以逐步完善每个模块的实现，并在每个周期结束时评估和降低潜在风险。同时，该架构还充分考虑到了后续完善环节。在需要设计新模块时，使用螺旋模型进行细节完善，并通过冲刺进行新组件的开发。</a:t>
            </a:r>
            <a:endParaRPr lang="zh-CN" altLang="en-US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en-US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514350" indent="-514350" algn="just">
              <a:lnSpc>
                <a:spcPct val="100000"/>
              </a:lnSpc>
              <a:buAutoNum type="arabicPeriod"/>
            </a:pPr>
            <a:endParaRPr lang="en-US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endParaRPr lang="en-US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8900" y="927735"/>
            <a:ext cx="11894185" cy="518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软件架构选择：</a:t>
            </a:r>
            <a:br>
              <a:rPr lang="en-US" altLang="zh-CN" sz="20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Pipe-and-Filter </a:t>
            </a:r>
            <a:r>
              <a:rPr lang="zh-CN" altLang="en-US" sz="2050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架构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zh-CN" altLang="en-US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合理性分析：</a:t>
            </a:r>
            <a:endParaRPr lang="zh-CN" altLang="en-US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1.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功能需求：</a:t>
            </a:r>
            <a:b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Pipe-and-Filter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架构提供了模块化和数据流处理能力。项目的核心功能是文本处理，包括输入、移位、排序和输出，这些操作符合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Pipe-and-Filter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架构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的特征。每个模块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(InputModule</a:t>
            </a:r>
            <a:r>
              <a:rPr lang="zh-CN" altLang="en-US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ShiftModule</a:t>
            </a:r>
            <a:r>
              <a:rPr lang="zh-CN" altLang="en-US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SortModule</a:t>
            </a:r>
            <a:r>
              <a:rPr lang="zh-CN" altLang="en-US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OutputModule)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可以被视为一个独立的</a:t>
            </a:r>
            <a:r>
              <a:rPr lang="en-US" altLang="zh-CN" sz="205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Filter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，数据在这些模块间线性流动，实现了高度解耦和可扩展性。</a:t>
            </a:r>
            <a:b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例如，文本通过</a:t>
            </a:r>
            <a:r>
              <a:rPr lang="en-US" altLang="zh-CN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Input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输入后经过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LineModule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处理，再传递给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ShiftModule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进行单词移位，最后由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SortModule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和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OutputModule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完成排序和展示，整个过程犹如数据通过一系列管道和过滤器。</a:t>
            </a:r>
            <a:endParaRPr lang="en-US" altLang="zh-CN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endParaRPr lang="en-US" altLang="zh-CN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2.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非功能需求：</a:t>
            </a:r>
            <a:endParaRPr lang="en-US" altLang="zh-CN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1.</a:t>
            </a:r>
            <a:r>
              <a:rPr lang="zh-CN" altLang="en-US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可复用性：各个模块相对独立，可以使用到不同的地方。</a:t>
            </a:r>
            <a:endParaRPr lang="en-US" altLang="zh-CN" sz="2050" i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2.</a:t>
            </a:r>
            <a:r>
              <a:rPr lang="zh-CN" altLang="en-US" sz="2050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可修改性：需要进行功能修改或优化时，可以便捷地进行模块的增删或者修改。</a:t>
            </a:r>
            <a:endParaRPr lang="en-US" altLang="zh-CN" sz="2050" i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3.</a:t>
            </a:r>
            <a:r>
              <a:rPr lang="zh-CN" altLang="en-US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可并行：各个模块之间支持并行处理，提高了运行效率</a:t>
            </a:r>
            <a:r>
              <a:rPr lang="zh-CN" altLang="en-US" sz="205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。</a:t>
            </a:r>
            <a:endParaRPr lang="zh-CN" altLang="en-US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endParaRPr lang="zh-CN" altLang="en-US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软件架构选择与合理性分析</a:t>
            </a:r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81313" y="1078406"/>
            <a:ext cx="10498455" cy="518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通过运行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gui.py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。在输入区域输入文本或导入文本文件；点击显示移位和排序结果，在结果区查看移位和排序结果；此外，还可以使用关键词搜索的功能查找包含特定关键词的语句。同时，我们还实现了对中文词语和特殊符号等噪音干扰的去除。                                                                                                                                       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测试结果</a:t>
            </a:r>
            <a:r>
              <a:rPr lang="en-US" altLang="zh-CN" dirty="0"/>
              <a:t>​</a:t>
            </a:r>
            <a:endParaRPr lang="en-US" altLang="zh-CN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13" y="2045364"/>
            <a:ext cx="4320090" cy="2286000"/>
          </a:xfrm>
          <a:prstGeom prst="rect">
            <a:avLst/>
          </a:prstGeom>
        </p:spPr>
      </p:pic>
      <p:sp>
        <p:nvSpPr>
          <p:cNvPr id="14" name="图文框 13"/>
          <p:cNvSpPr/>
          <p:nvPr/>
        </p:nvSpPr>
        <p:spPr>
          <a:xfrm>
            <a:off x="4608095" y="3326729"/>
            <a:ext cx="517358" cy="174458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1540042" y="3410953"/>
            <a:ext cx="3068053" cy="709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图文框 16"/>
          <p:cNvSpPr/>
          <p:nvPr/>
        </p:nvSpPr>
        <p:spPr>
          <a:xfrm>
            <a:off x="1028700" y="4174956"/>
            <a:ext cx="1082842" cy="14437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85512" y="3224462"/>
            <a:ext cx="517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1.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02100" y="4110795"/>
            <a:ext cx="517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2.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122" y="2045364"/>
            <a:ext cx="2116798" cy="1989882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372" y="2033335"/>
            <a:ext cx="1757082" cy="235819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13" y="4555151"/>
            <a:ext cx="5181602" cy="1332020"/>
          </a:xfrm>
          <a:prstGeom prst="rect">
            <a:avLst/>
          </a:prstGeom>
        </p:spPr>
      </p:pic>
      <p:sp>
        <p:nvSpPr>
          <p:cNvPr id="31" name="任意多边形: 形状 41"/>
          <p:cNvSpPr/>
          <p:nvPr/>
        </p:nvSpPr>
        <p:spPr>
          <a:xfrm>
            <a:off x="5306176" y="2814519"/>
            <a:ext cx="948246" cy="686668"/>
          </a:xfrm>
          <a:custGeom>
            <a:avLst/>
            <a:gdLst>
              <a:gd name="connsiteX0" fmla="*/ 1186163 w 1196834"/>
              <a:gd name="connsiteY0" fmla="*/ 458978 h 866682"/>
              <a:gd name="connsiteX1" fmla="*/ 1186163 w 1196834"/>
              <a:gd name="connsiteY1" fmla="*/ 407593 h 866682"/>
              <a:gd name="connsiteX2" fmla="*/ 789147 w 1196834"/>
              <a:gd name="connsiteY2" fmla="*/ 10578 h 866682"/>
              <a:gd name="connsiteX3" fmla="*/ 737702 w 1196834"/>
              <a:gd name="connsiteY3" fmla="*/ 10610 h 866682"/>
              <a:gd name="connsiteX4" fmla="*/ 727098 w 1196834"/>
              <a:gd name="connsiteY4" fmla="*/ 36330 h 866682"/>
              <a:gd name="connsiteX5" fmla="*/ 727098 w 1196834"/>
              <a:gd name="connsiteY5" fmla="*/ 160610 h 866682"/>
              <a:gd name="connsiteX6" fmla="*/ 36320 w 1196834"/>
              <a:gd name="connsiteY6" fmla="*/ 160610 h 866682"/>
              <a:gd name="connsiteX7" fmla="*/ -37 w 1196834"/>
              <a:gd name="connsiteY7" fmla="*/ 196967 h 866682"/>
              <a:gd name="connsiteX8" fmla="*/ -37 w 1196834"/>
              <a:gd name="connsiteY8" fmla="*/ 669605 h 866682"/>
              <a:gd name="connsiteX9" fmla="*/ 36320 w 1196834"/>
              <a:gd name="connsiteY9" fmla="*/ 705961 h 866682"/>
              <a:gd name="connsiteX10" fmla="*/ 727098 w 1196834"/>
              <a:gd name="connsiteY10" fmla="*/ 705961 h 866682"/>
              <a:gd name="connsiteX11" fmla="*/ 727098 w 1196834"/>
              <a:gd name="connsiteY11" fmla="*/ 830241 h 866682"/>
              <a:gd name="connsiteX12" fmla="*/ 763455 w 1196834"/>
              <a:gd name="connsiteY12" fmla="*/ 866628 h 866682"/>
              <a:gd name="connsiteX13" fmla="*/ 789147 w 1196834"/>
              <a:gd name="connsiteY13" fmla="*/ 855994 h 866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6834" h="866682">
                <a:moveTo>
                  <a:pt x="1186163" y="458978"/>
                </a:moveTo>
                <a:cubicBezTo>
                  <a:pt x="1200342" y="444780"/>
                  <a:pt x="1200342" y="421791"/>
                  <a:pt x="1186163" y="407593"/>
                </a:cubicBezTo>
                <a:lnTo>
                  <a:pt x="789147" y="10578"/>
                </a:lnTo>
                <a:cubicBezTo>
                  <a:pt x="774968" y="-3612"/>
                  <a:pt x="751942" y="-3597"/>
                  <a:pt x="737702" y="10610"/>
                </a:cubicBezTo>
                <a:cubicBezTo>
                  <a:pt x="730916" y="17433"/>
                  <a:pt x="727098" y="26686"/>
                  <a:pt x="727098" y="36330"/>
                </a:cubicBezTo>
                <a:lnTo>
                  <a:pt x="727098" y="160610"/>
                </a:lnTo>
                <a:lnTo>
                  <a:pt x="36320" y="160610"/>
                </a:lnTo>
                <a:cubicBezTo>
                  <a:pt x="16263" y="160610"/>
                  <a:pt x="-37" y="176886"/>
                  <a:pt x="-37" y="196967"/>
                </a:cubicBezTo>
                <a:lnTo>
                  <a:pt x="-37" y="669605"/>
                </a:lnTo>
                <a:cubicBezTo>
                  <a:pt x="-37" y="689686"/>
                  <a:pt x="16263" y="705961"/>
                  <a:pt x="36320" y="705961"/>
                </a:cubicBezTo>
                <a:lnTo>
                  <a:pt x="727098" y="705961"/>
                </a:lnTo>
                <a:lnTo>
                  <a:pt x="727098" y="830241"/>
                </a:lnTo>
                <a:cubicBezTo>
                  <a:pt x="727098" y="850322"/>
                  <a:pt x="743338" y="866610"/>
                  <a:pt x="763455" y="866628"/>
                </a:cubicBezTo>
                <a:cubicBezTo>
                  <a:pt x="773089" y="866634"/>
                  <a:pt x="782300" y="862810"/>
                  <a:pt x="789147" y="855994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显示移位结果</a:t>
            </a:r>
            <a:endParaRPr lang="zh-CN" altLang="en-US" sz="10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2" name="任意多边形: 形状 41"/>
          <p:cNvSpPr/>
          <p:nvPr/>
        </p:nvSpPr>
        <p:spPr>
          <a:xfrm>
            <a:off x="8255924" y="2846602"/>
            <a:ext cx="948246" cy="686668"/>
          </a:xfrm>
          <a:custGeom>
            <a:avLst/>
            <a:gdLst>
              <a:gd name="connsiteX0" fmla="*/ 1186163 w 1196834"/>
              <a:gd name="connsiteY0" fmla="*/ 458978 h 866682"/>
              <a:gd name="connsiteX1" fmla="*/ 1186163 w 1196834"/>
              <a:gd name="connsiteY1" fmla="*/ 407593 h 866682"/>
              <a:gd name="connsiteX2" fmla="*/ 789147 w 1196834"/>
              <a:gd name="connsiteY2" fmla="*/ 10578 h 866682"/>
              <a:gd name="connsiteX3" fmla="*/ 737702 w 1196834"/>
              <a:gd name="connsiteY3" fmla="*/ 10610 h 866682"/>
              <a:gd name="connsiteX4" fmla="*/ 727098 w 1196834"/>
              <a:gd name="connsiteY4" fmla="*/ 36330 h 866682"/>
              <a:gd name="connsiteX5" fmla="*/ 727098 w 1196834"/>
              <a:gd name="connsiteY5" fmla="*/ 160610 h 866682"/>
              <a:gd name="connsiteX6" fmla="*/ 36320 w 1196834"/>
              <a:gd name="connsiteY6" fmla="*/ 160610 h 866682"/>
              <a:gd name="connsiteX7" fmla="*/ -37 w 1196834"/>
              <a:gd name="connsiteY7" fmla="*/ 196967 h 866682"/>
              <a:gd name="connsiteX8" fmla="*/ -37 w 1196834"/>
              <a:gd name="connsiteY8" fmla="*/ 669605 h 866682"/>
              <a:gd name="connsiteX9" fmla="*/ 36320 w 1196834"/>
              <a:gd name="connsiteY9" fmla="*/ 705961 h 866682"/>
              <a:gd name="connsiteX10" fmla="*/ 727098 w 1196834"/>
              <a:gd name="connsiteY10" fmla="*/ 705961 h 866682"/>
              <a:gd name="connsiteX11" fmla="*/ 727098 w 1196834"/>
              <a:gd name="connsiteY11" fmla="*/ 830241 h 866682"/>
              <a:gd name="connsiteX12" fmla="*/ 763455 w 1196834"/>
              <a:gd name="connsiteY12" fmla="*/ 866628 h 866682"/>
              <a:gd name="connsiteX13" fmla="*/ 789147 w 1196834"/>
              <a:gd name="connsiteY13" fmla="*/ 855994 h 866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6834" h="866682">
                <a:moveTo>
                  <a:pt x="1186163" y="458978"/>
                </a:moveTo>
                <a:cubicBezTo>
                  <a:pt x="1200342" y="444780"/>
                  <a:pt x="1200342" y="421791"/>
                  <a:pt x="1186163" y="407593"/>
                </a:cubicBezTo>
                <a:lnTo>
                  <a:pt x="789147" y="10578"/>
                </a:lnTo>
                <a:cubicBezTo>
                  <a:pt x="774968" y="-3612"/>
                  <a:pt x="751942" y="-3597"/>
                  <a:pt x="737702" y="10610"/>
                </a:cubicBezTo>
                <a:cubicBezTo>
                  <a:pt x="730916" y="17433"/>
                  <a:pt x="727098" y="26686"/>
                  <a:pt x="727098" y="36330"/>
                </a:cubicBezTo>
                <a:lnTo>
                  <a:pt x="727098" y="160610"/>
                </a:lnTo>
                <a:lnTo>
                  <a:pt x="36320" y="160610"/>
                </a:lnTo>
                <a:cubicBezTo>
                  <a:pt x="16263" y="160610"/>
                  <a:pt x="-37" y="176886"/>
                  <a:pt x="-37" y="196967"/>
                </a:cubicBezTo>
                <a:lnTo>
                  <a:pt x="-37" y="669605"/>
                </a:lnTo>
                <a:cubicBezTo>
                  <a:pt x="-37" y="689686"/>
                  <a:pt x="16263" y="705961"/>
                  <a:pt x="36320" y="705961"/>
                </a:cubicBezTo>
                <a:lnTo>
                  <a:pt x="727098" y="705961"/>
                </a:lnTo>
                <a:lnTo>
                  <a:pt x="727098" y="830241"/>
                </a:lnTo>
                <a:cubicBezTo>
                  <a:pt x="727098" y="850322"/>
                  <a:pt x="743338" y="866610"/>
                  <a:pt x="763455" y="866628"/>
                </a:cubicBezTo>
                <a:cubicBezTo>
                  <a:pt x="773089" y="866634"/>
                  <a:pt x="782300" y="862810"/>
                  <a:pt x="789147" y="855994"/>
                </a:cubicBez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显示排序结果</a:t>
            </a:r>
            <a:endParaRPr lang="zh-CN" altLang="en-US" sz="10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5829300" y="3976437"/>
            <a:ext cx="3465095" cy="9625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图文框 35"/>
          <p:cNvSpPr/>
          <p:nvPr/>
        </p:nvSpPr>
        <p:spPr>
          <a:xfrm>
            <a:off x="5486400" y="4999121"/>
            <a:ext cx="565484" cy="18275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图文框 36"/>
          <p:cNvSpPr/>
          <p:nvPr/>
        </p:nvSpPr>
        <p:spPr>
          <a:xfrm>
            <a:off x="6376737" y="2207795"/>
            <a:ext cx="336884" cy="132347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图文框 37"/>
          <p:cNvSpPr/>
          <p:nvPr/>
        </p:nvSpPr>
        <p:spPr>
          <a:xfrm>
            <a:off x="9643311" y="2292015"/>
            <a:ext cx="421105" cy="162427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38118" y="2149641"/>
            <a:ext cx="517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3.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717515" y="2095497"/>
            <a:ext cx="517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4.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548568" y="4796591"/>
            <a:ext cx="517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6.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 rot="20663548">
            <a:off x="6547194" y="4555960"/>
            <a:ext cx="1357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</a:rPr>
              <a:t>实现特定关键词搜索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图文框 43"/>
          <p:cNvSpPr/>
          <p:nvPr/>
        </p:nvSpPr>
        <p:spPr>
          <a:xfrm>
            <a:off x="1540042" y="4999121"/>
            <a:ext cx="282742" cy="18275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297403" y="4858753"/>
            <a:ext cx="517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5.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8" name="直接箭头连接符 47"/>
          <p:cNvCxnSpPr>
            <a:endCxn id="36" idx="1"/>
          </p:cNvCxnSpPr>
          <p:nvPr/>
        </p:nvCxnSpPr>
        <p:spPr>
          <a:xfrm flipV="1">
            <a:off x="1822784" y="5090499"/>
            <a:ext cx="3663616" cy="14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7862637" y="4710363"/>
            <a:ext cx="32665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可见，我们实现了对文本中噪音的去除，正确识别了以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http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https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开头的网址，并成功地对其他文本进行了移位和排序处理；同时实现了对包含特定关键词的语句的搜索。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6605" y="955727"/>
            <a:ext cx="10498455" cy="518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现存问题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​​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排序和移位算法在大规模数据下效率可能下降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2.GUI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较为笨重，能实现的功能有限；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​​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未来展望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​​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优化算法，增加处理效率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优化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GUI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页面，实现实时修改展示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问题与展望</a:t>
            </a:r>
            <a:r>
              <a:rPr lang="en-US" altLang="zh-CN" dirty="0"/>
              <a:t>​</a:t>
            </a:r>
            <a:endParaRPr lang="en-US" altLang="zh-CN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82990" y="1484311"/>
            <a:ext cx="7287114" cy="22675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600" b="1" dirty="0">
                <a:latin typeface="楷体" panose="02010609060101010101" pitchFamily="49" charset="-122"/>
                <a:ea typeface="楷体" panose="02010609060101010101" pitchFamily="49" charset="-122"/>
              </a:rPr>
              <a:t>谢谢大家</a:t>
            </a:r>
            <a:endParaRPr lang="zh-CN" altLang="en-US" sz="6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295400" y="3925027"/>
            <a:ext cx="7343775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295312" y="4098178"/>
            <a:ext cx="7287114" cy="15785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成员：陈保真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陈俊颖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张凯宁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张志豪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导　师：彭图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　间：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2025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封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1333</Words>
  <Application>WPS 演示</Application>
  <PresentationFormat>宽屏</PresentationFormat>
  <Paragraphs>348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Century Gothic</vt:lpstr>
      <vt:lpstr>Times New Roman</vt:lpstr>
      <vt:lpstr>楷体</vt:lpstr>
      <vt:lpstr>Arial Unicode MS</vt:lpstr>
      <vt:lpstr>Calibri</vt:lpstr>
      <vt:lpstr>封1​​</vt:lpstr>
      <vt:lpstr>目1​​</vt:lpstr>
      <vt:lpstr>内页​​</vt:lpstr>
      <vt:lpstr>PowerPoint 演示文稿</vt:lpstr>
      <vt:lpstr>软件过程选择和合理性分析</vt:lpstr>
      <vt:lpstr>软件架构选择与合理性分析</vt:lpstr>
      <vt:lpstr>测试结果​</vt:lpstr>
      <vt:lpstr>问题与展望​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DELL</dc:creator>
  <cp:lastModifiedBy>C.'</cp:lastModifiedBy>
  <cp:revision>168</cp:revision>
  <dcterms:created xsi:type="dcterms:W3CDTF">2019-06-19T02:08:00Z</dcterms:created>
  <dcterms:modified xsi:type="dcterms:W3CDTF">2025-12-11T06:08:48Z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AE4114907BF045D6B65190A81B0014AF_13</vt:lpwstr>
  </property>
</Properties>
</file>