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notesMasterIdLst>
    <p:notesMasterId r:id="rId10"/>
  </p:notesMasterIdLst>
  <p:sldIdLst>
    <p:sldId id="257" r:id="rId4"/>
    <p:sldId id="263" r:id="rId5"/>
    <p:sldId id="264" r:id="rId6"/>
    <p:sldId id="269" r:id="rId7"/>
    <p:sldId id="268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7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AFAFA"/>
    <a:srgbClr val="DCDCDC"/>
    <a:srgbClr val="F0F0F0"/>
    <a:srgbClr val="E6E6E6"/>
    <a:srgbClr val="C8C8C8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576" y="72"/>
      </p:cViewPr>
      <p:guideLst>
        <p:guide orient="horz" pos="2167"/>
        <p:guide pos="379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2025-05-23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2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3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4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5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t>6</a:t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6" name="Freeform 6"/>
              <p:cNvSpPr/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87" name="组合 86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9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84933"/>
              <a:chOff x="1752714" y="2031919"/>
              <a:chExt cx="568653" cy="3084931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8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49" y="4681015"/>
                <a:ext cx="437372" cy="435835"/>
                <a:chOff x="11893465" y="1994536"/>
                <a:chExt cx="274986" cy="27401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77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87430" y="1483539"/>
            <a:ext cx="7373912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 userDrawn="1"/>
        </p:nvGrpSpPr>
        <p:grpSpPr>
          <a:xfrm>
            <a:off x="9834169" y="2044937"/>
            <a:ext cx="1778296" cy="3243220"/>
            <a:chOff x="611819" y="2031917"/>
            <a:chExt cx="1709546" cy="3117835"/>
          </a:xfrm>
        </p:grpSpPr>
        <p:grpSp>
          <p:nvGrpSpPr>
            <p:cNvPr id="46" name="组合 45"/>
            <p:cNvGrpSpPr/>
            <p:nvPr/>
          </p:nvGrpSpPr>
          <p:grpSpPr>
            <a:xfrm>
              <a:off x="611819" y="2051403"/>
              <a:ext cx="567014" cy="3098349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61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62" name="Freeform 6"/>
              <p:cNvSpPr/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charset="-122"/>
                  <a:cs typeface="+mn-cs"/>
                </a:endParaRPr>
              </a:p>
            </p:txBody>
          </p:sp>
          <p:grpSp>
            <p:nvGrpSpPr>
              <p:cNvPr id="63" name="组合 62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6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64" name="组合 63"/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65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6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7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  <p:grpSp>
          <p:nvGrpSpPr>
            <p:cNvPr id="47" name="组合 46"/>
            <p:cNvGrpSpPr/>
            <p:nvPr userDrawn="1"/>
          </p:nvGrpSpPr>
          <p:grpSpPr>
            <a:xfrm>
              <a:off x="1752713" y="2031917"/>
              <a:ext cx="568652" cy="3084933"/>
              <a:chOff x="1752713" y="2031917"/>
              <a:chExt cx="568652" cy="3084933"/>
            </a:xfrm>
          </p:grpSpPr>
          <p:grpSp>
            <p:nvGrpSpPr>
              <p:cNvPr id="48" name="组合 47"/>
              <p:cNvGrpSpPr/>
              <p:nvPr/>
            </p:nvGrpSpPr>
            <p:grpSpPr>
              <a:xfrm>
                <a:off x="1769224" y="3776575"/>
                <a:ext cx="501269" cy="527571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6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1752713" y="2031917"/>
                <a:ext cx="568652" cy="718219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5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855431" y="3075552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5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5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1804149" y="4681015"/>
                <a:ext cx="437372" cy="435835"/>
                <a:chOff x="11893465" y="1994536"/>
                <a:chExt cx="274986" cy="27401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52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  <p:sp>
              <p:nvSpPr>
                <p:cNvPr id="53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70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87429" y="4461296"/>
            <a:ext cx="7373913" cy="119983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答辩人：北小理</a:t>
            </a:r>
            <a:endParaRPr lang="en-US" altLang="zh-CN" dirty="0"/>
          </a:p>
          <a:p>
            <a:pPr lvl="0"/>
            <a:r>
              <a:rPr lang="zh-CN" altLang="en-US" dirty="0"/>
              <a:t>导　师：京小工</a:t>
            </a:r>
            <a:endParaRPr lang="en-US" altLang="zh-CN" dirty="0"/>
          </a:p>
          <a:p>
            <a:pPr lvl="0"/>
            <a:r>
              <a:rPr lang="zh-CN" altLang="en-US" dirty="0"/>
              <a:t>时　间：</a:t>
            </a:r>
            <a:fld id="{F6F1CC6F-731D-497C-9A0B-70CB610DC019}" type="datetime1">
              <a:rPr lang="zh-CN" altLang="en-US" smtClean="0"/>
              <a:t>​</a:t>
            </a:fld>
            <a:endParaRPr lang="zh-CN" alt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/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/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6" name="组合 10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1" name="组合 5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79" name="组合 78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6"/>
              <p:cNvSpPr/>
              <p:nvPr/>
            </p:nvSpPr>
            <p:spPr bwMode="auto">
              <a:xfrm>
                <a:off x="4620306" y="1264461"/>
                <a:ext cx="331665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56" name="组合 55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2025-05-23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2025-05-23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t>2025-05-23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27"/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6000" b="1" i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Phase 1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3403871" y="2793683"/>
            <a:ext cx="7287114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884841"/>
              </p:ext>
            </p:extLst>
          </p:nvPr>
        </p:nvGraphicFramePr>
        <p:xfrm>
          <a:off x="3537883" y="3006097"/>
          <a:ext cx="547288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陈保真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代码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测试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陈俊颖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代码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+</a:t>
                      </a:r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  <a:sym typeface="+mn-ea"/>
                        </a:rPr>
                        <a:t>测试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张凯宁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框架设计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+ppt</a:t>
                      </a:r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制作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张志豪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展示演讲</a:t>
                      </a:r>
                      <a:r>
                        <a:rPr lang="en-US" altLang="zh-CN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</a:t>
                      </a:r>
                      <a:r>
                        <a:rPr lang="zh-CN" altLang="en-US" sz="2000" b="1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反馈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549208" y="5147282"/>
            <a:ext cx="546156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导师：彭图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时间：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2025.5.21</a:t>
            </a: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软件过程选择和合理性分析</a:t>
            </a: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内容占位符 1"/>
          <p:cNvSpPr txBox="1"/>
          <p:nvPr/>
        </p:nvSpPr>
        <p:spPr>
          <a:xfrm>
            <a:off x="255270" y="1054100"/>
            <a:ext cx="11532870" cy="5059680"/>
          </a:xfrm>
          <a:prstGeom prst="rect">
            <a:avLst/>
          </a:prstGeom>
        </p:spPr>
        <p:txBody>
          <a:bodyPr vert="horz" lIns="0" tIns="0" rIns="0" bIns="0"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zh-CN" altLang="zh-CN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软件过程：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螺旋模型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(</a:t>
            </a:r>
            <a:r>
              <a:rPr lang="en-US" altLang="zh-CN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Spiral)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敏捷开发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(</a:t>
            </a:r>
            <a:r>
              <a:rPr lang="en-US" altLang="zh-CN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Agile development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)  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短的周期：冲刺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(</a:t>
            </a:r>
            <a:r>
              <a:rPr lang="en-US" altLang="zh-CN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Sprint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合理性分析：</a:t>
            </a:r>
            <a:endParaRPr lang="en-US" altLang="zh-CN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螺旋模型的合理性体现在项目的迭代和风险管理方面。首先，我们对项目架构进行逻辑抽象，设计项目涉及的多个模块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(</a:t>
            </a:r>
            <a:r>
              <a:rPr lang="en-US" altLang="zh-CN" sz="2400" i="1" kern="100" dirty="0" err="1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InputModule</a:t>
            </a:r>
            <a:r>
              <a:rPr lang="zh-CN" altLang="en-US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 </a:t>
            </a:r>
            <a:r>
              <a:rPr lang="en-US" altLang="zh-CN" sz="2400" i="1" kern="100" dirty="0" err="1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LineModule</a:t>
            </a:r>
            <a:r>
              <a:rPr lang="en-US" altLang="zh-CN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 </a:t>
            </a:r>
            <a:r>
              <a:rPr lang="zh-CN" altLang="en-US" sz="24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400" i="1" kern="100" dirty="0" err="1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ShiftModule</a:t>
            </a:r>
            <a:r>
              <a:rPr lang="zh-CN" altLang="en-US" sz="2400" i="1" kern="1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400" i="1" kern="100" dirty="0" err="1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SortModule</a:t>
            </a:r>
            <a:r>
              <a:rPr lang="zh-CN" altLang="en-US" sz="2400" i="1" kern="1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400" i="1" kern="100" dirty="0" err="1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OutputModule</a:t>
            </a:r>
            <a:r>
              <a:rPr lang="en-US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)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，每个模块都有相对独立但又相互关联的功能。接着对每个模块进行冲刺开发。通过多轮</a:t>
            </a:r>
            <a:r>
              <a:rPr lang="zh-CN" altLang="en-US" sz="24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修改评估</a:t>
            </a:r>
            <a:r>
              <a:rPr lang="zh-CN" alt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，可以逐步完善每个模块的实现，并在每个周期结束时评估和降低潜在风险。同时，该架构还充分考虑到了后续完善环节。在需要设计新模块时，使用螺旋模型进行细节完善，并通过冲刺进行新组件的开发。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zh-CN" altLang="en-US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514350" indent="-514350" algn="just">
              <a:lnSpc>
                <a:spcPct val="100000"/>
              </a:lnSpc>
              <a:buAutoNum type="arabicPeriod"/>
            </a:pPr>
            <a:endParaRPr lang="en-US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</a:pPr>
            <a:endParaRPr lang="en-US" alt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8900" y="927735"/>
            <a:ext cx="11894185" cy="5181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400" b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软件架构选择：</a:t>
            </a:r>
            <a:br>
              <a:rPr lang="en-US" altLang="zh-CN" sz="200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</a:b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Pipe-and-Filter </a:t>
            </a:r>
            <a:r>
              <a:rPr lang="zh-CN" altLang="en-US" sz="2050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架构</a:t>
            </a:r>
            <a:b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</a:br>
            <a:r>
              <a:rPr lang="zh-CN" altLang="en-US" sz="24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合理性分析：</a:t>
            </a:r>
            <a:endParaRPr lang="zh-CN" altLang="en-US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r>
              <a:rPr lang="en-US" altLang="zh-CN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1.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功能需求：</a:t>
            </a:r>
            <a:b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</a:b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Pipe-and-Filter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架构提供了模块化和数据流处理能力。项目的核心功能是文本处理，包括输入、移位、排序和输出，这些操作符合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Pipe-and-Filter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架构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的特征。每个模块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(InputModule</a:t>
            </a:r>
            <a:r>
              <a:rPr lang="zh-CN" altLang="en-US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ShiftModule</a:t>
            </a:r>
            <a:r>
              <a:rPr lang="zh-CN" altLang="en-US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SortModule</a:t>
            </a:r>
            <a:r>
              <a:rPr lang="zh-CN" altLang="en-US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OutputModule)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可以被视为一个独立的</a:t>
            </a:r>
            <a:r>
              <a:rPr lang="en-US" altLang="zh-CN" sz="2050" i="1" kern="1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Filter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，数据在这些模块间线性流动，实现了高度解耦和可扩展性。</a:t>
            </a:r>
            <a:b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</a:b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例如，文本通过</a:t>
            </a:r>
            <a:r>
              <a:rPr lang="en-US" altLang="zh-CN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Input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输入后经过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LineModule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处理，再传递给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ShiftModule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进行单词移位，最后由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SortModule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和</a:t>
            </a:r>
            <a:r>
              <a:rPr lang="en-US" altLang="zh-CN" sz="2050" i="1" kern="100" dirty="0">
                <a:effectLst/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OutputModule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完成排序和展示，整个过程犹如数据通过一系列管道和过滤器。</a:t>
            </a:r>
            <a:endParaRPr lang="en-US" altLang="zh-CN" sz="205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endParaRPr lang="en-US" altLang="zh-CN" sz="205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r>
              <a:rPr lang="en-US" altLang="zh-CN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2.</a:t>
            </a:r>
            <a:r>
              <a:rPr lang="zh-CN" altLang="en-US" sz="205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非功能需求：</a:t>
            </a:r>
            <a:endParaRPr lang="en-US" altLang="zh-CN" sz="205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r>
              <a:rPr lang="en-US" altLang="zh-CN" sz="2050" i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1.</a:t>
            </a:r>
            <a:r>
              <a:rPr lang="zh-CN" altLang="en-US" sz="2050" i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可复用性：各个模块相对独立，可以使用到不同的地方。</a:t>
            </a:r>
            <a:endParaRPr lang="en-US" altLang="zh-CN" sz="2050" i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r>
              <a:rPr lang="en-US" altLang="zh-CN" sz="2050" i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2.</a:t>
            </a:r>
            <a:r>
              <a:rPr lang="zh-CN" altLang="en-US" sz="2050" i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可修改性：需要进行功能修改或优化时，可以便捷地进行模块的增删或者修改。</a:t>
            </a:r>
            <a:endParaRPr lang="en-US" altLang="zh-CN" sz="2050" i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algn="l"/>
            <a:r>
              <a:rPr lang="en-US" altLang="zh-CN" sz="2050" i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3.</a:t>
            </a:r>
            <a:r>
              <a:rPr lang="zh-CN" altLang="en-US" sz="2050" i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</a:rPr>
              <a:t>可并行：各个模块之间支持并行处理，提高了运行效率</a:t>
            </a:r>
            <a:r>
              <a:rPr lang="zh-CN" altLang="en-US" sz="2050" i="1" kern="1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。</a:t>
            </a:r>
            <a:endParaRPr lang="zh-CN" altLang="en-US" sz="205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endParaRPr lang="zh-CN" altLang="en-US" sz="205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软件架构选择与合理性分析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81313" y="1053266"/>
            <a:ext cx="10498455" cy="5181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实现了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GUI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。通过添加行输入文本；点击文本显示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Shift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结果；点击“显示排序结果”进行排序。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测试结果</a:t>
            </a:r>
            <a:r>
              <a:rPr lang="en-US" altLang="zh-CN" dirty="0"/>
              <a:t>​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0C30A13-001E-1819-ECB1-7E6A2B7AC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289" y="1492898"/>
            <a:ext cx="5400317" cy="4674638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76605" y="955727"/>
            <a:ext cx="10498455" cy="5181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现存问题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​​</a:t>
            </a: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排序和移位算法在大规模数据下效率可能下降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2.GUI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较为笨重；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indent="-34290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​​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未来展望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​​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优化算法，增加处理效率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后续添加更多功能，比如自定义排序顺序等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优化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GUI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页面，实现实时修改展示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just" eaLnBrk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1606550" y="345305"/>
            <a:ext cx="8643848" cy="478155"/>
          </a:xfrm>
        </p:spPr>
        <p:txBody>
          <a:bodyPr/>
          <a:lstStyle/>
          <a:p>
            <a:r>
              <a:rPr lang="zh-CN" altLang="en-US" dirty="0"/>
              <a:t>问题与展望</a:t>
            </a:r>
            <a:r>
              <a:rPr lang="en-US" altLang="zh-CN" dirty="0"/>
              <a:t>​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57352" y="235111"/>
            <a:ext cx="969798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82990" y="1484311"/>
            <a:ext cx="7287114" cy="22675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600" b="1" dirty="0">
                <a:latin typeface="楷体" panose="02010609060101010101" pitchFamily="49" charset="-122"/>
                <a:ea typeface="楷体" panose="02010609060101010101" pitchFamily="49" charset="-122"/>
              </a:rPr>
              <a:t>谢谢大家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1295400" y="3925027"/>
            <a:ext cx="7343775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295312" y="4098178"/>
            <a:ext cx="7287114" cy="157852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成员：陈保真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陈俊颖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张凯宁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张志豪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导　师：彭图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　间：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2025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封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1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503</Words>
  <Application>Microsoft Office PowerPoint</Application>
  <PresentationFormat>宽屏</PresentationFormat>
  <Paragraphs>304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楷体</vt:lpstr>
      <vt:lpstr>微软雅黑</vt:lpstr>
      <vt:lpstr>Arial</vt:lpstr>
      <vt:lpstr>Calibri</vt:lpstr>
      <vt:lpstr>Century Gothic</vt:lpstr>
      <vt:lpstr>Times New Roman</vt:lpstr>
      <vt:lpstr>Wingdings</vt:lpstr>
      <vt:lpstr>封1​​</vt:lpstr>
      <vt:lpstr>目1​​</vt:lpstr>
      <vt:lpstr>内页​​</vt:lpstr>
      <vt:lpstr>PowerPoint 演示文稿</vt:lpstr>
      <vt:lpstr>软件过程选择和合理性分析</vt:lpstr>
      <vt:lpstr>软件架构选择与合理性分析</vt:lpstr>
      <vt:lpstr>测试结果​</vt:lpstr>
      <vt:lpstr>问题与展望​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DELL</dc:creator>
  <cp:lastModifiedBy>zhwsd zws</cp:lastModifiedBy>
  <cp:revision>166</cp:revision>
  <dcterms:created xsi:type="dcterms:W3CDTF">2019-06-19T02:08:00Z</dcterms:created>
  <dcterms:modified xsi:type="dcterms:W3CDTF">2025-05-23T06:18:58Z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430CB9E600974265A2442BEB9F781FFA_12</vt:lpwstr>
  </property>
</Properties>
</file>